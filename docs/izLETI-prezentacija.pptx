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0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(~15 s) Pozdrav. Mi smo grupa G11, naš projekt je izLETI – aplikacija za upravljanje izletima i turističkim aktivnostima. U idućih pet minuta: zahtjevi, obrasci uporabe, arhitektura i oblikovanje baze.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Problem iz zadatka: agencije imaju puno aktivnosti, termina i resursa. Ključna odluka u modelu domene su tri razine: aktivnost je jedno mjesto, npr. muzej; izlet je niz aktivnosti; događaj je izlet u konkretnom terminu s vodičem, kapacitetom i dodatnim uslugama. Rezervira se događaj, ne izlet. Tako organizator sve može ponovno koristiti.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 s) Imamo četiri uloge, a jedan korisnik može imati više njih. User rezervira, Organiser upravlja ponudom i rezervacijama, Admin dodjeljuje uloge, Owner – voditelj agencije – gleda statistiku. Vanjski sustavi su Google za prijavu, e-mail za potvrde i OpenStreetMap s GPS-om za kartu. Vodič je zasad vezan uz događaj, njegove vlastite funkcije još razrađujemo.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Funkcijske zahtjeve smo grupirali u četiri cjeline. Prijava preko Googlea i uloge; upravljanje ponudom – aktivnosti, izleti, događaji i kapaciteti; rezervacije – pretraga, rezervacija s dodatnim uslugama, obavijest mailom, pregled i otkazivanje, te potvrda od organizatora; i na kraju statistika za vlasnika i prikaz na karti.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 s) Nefunkcijski: ovlasti po ulogama provjeravamo na poslužitelju, sučelje je responzivno, a istovremeni rad rješavamo transakcijama u bazi tako da se ne može prebukirati događaj. Desno su stvari iz zadatka koje još detaljno razrađujemo: automatska provjera kapaciteta, statusi rezervacije, GPS digitalni vodič i evidencija resursa.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Ovo je dijagram obrazaca uporabe. Lijevo je User – pretraga, rezervacija, pregled i otkazivanje te karta. Ispod Organiser – unos aktivnosti i izleta, kreiranje događaja i obrada rezervacija. Desno Admin dodjeljuje uloge, Owner gleda statistiku. Prijava ide preko Googlea i koriste je svi; rezervacija je uključuje. Primjer tijeka OU-03 je dolje desno.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Najvažniji obrazac je rezervacija. Korisnik odabere događaj, broj osoba i dodatke; poslužitelj u transakciji zaključa redak događaja i provjeri slobodna mjesta – time sprječavamo prebukiranje kad više ljudi rezervira istovremeno. Ako ima mjesta, sprema rezervaciju u statusu zahtjev i šalje e-mail; inače javlja da je popunjeno. Dolje su statusi: zahtjev, potvrđena, realizirana, uz odbijenu i otkazanu.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Arhitektura je klasična troslojna web aplikacija po MVC uzorku. Klijent je preglednik – HTML generiramo na poslužitelju iz EJS predložaka, Bootstrap za responzivnost, Leaflet i OpenStreetMap za kartu, Geolocation API za GPS. Poslužitelj je Node.js s Expressom u TypeScriptu: rute su kontroleri, middleware rješava sesiju, Google prijavu i provjeru uloga, modeli sadrže poslovnu logiku. Baza je PostgreSQL. Isporuka je automatska: push na production granu pokreće deploy u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 s) Baza prati model domene. Korisnici i uloge su veza više-na-više. Aktivnosti i izleti također, preko tablice koja čuva redoslijed. Izlet ima više događaja, a događaj ima stanje i vodiča. Dodatne usluge se definiraju jednom, a po događaju se određuje koje su dostupne, s kapacitetom i cijenom. Rezervacija povezuje korisnika, događaj, stanje i odabrane dodatke.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 s) Zasad imamo specifikaciju, obrasce uporabe, ER model, kostur aplikacije i automatski deploy. Sljedeće implementiramo bazu i modele, Google prijavu, rezervacije s provjerom kapaciteta, statistiku s izvozom te kartu i GPS vodiča. Hvala, izvolite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</a:t>
            </a:r>
            <a:r>
              <a:rPr lang="en-US" sz="8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Upravljanje izletima i turističkim aktivnostima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Grupa G11</a:t>
            </a:r>
            <a:r>
              <a:rPr lang="hr-HR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Programsko inženjerstvo, FER · ak. god. 2026./2027.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Jakov Biskup · Florijan Gotal · Ivor Trstenjak · Jana Furdi · Erik Mikšić · Dražen Grgurić · Luka Cubek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 osnovni pojmovi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Korisnik</a:t>
            </a: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jednostavno pretraživanje i rezervacija, transparentne cijene i slobodna mjesta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Organizator: 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termini, kapaciteti, vodiči, prijevoz i ostali resursi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Tijekom izleta: </a:t>
            </a:r>
            <a:r>
              <a: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mobilni „digitalni turistički vodič” uz GPS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5989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60720" y="1188720"/>
            <a:ext cx="1600200" cy="1078992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60720" y="118872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52360" y="118872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mjesto / radnja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opis, lokacija, kategorija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29800" y="118872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npr. Riznica Međimurja,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Vidikovac Mađerkin breg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60820" y="2267712"/>
            <a:ext cx="0" cy="201168"/>
          </a:xfrm>
          <a:prstGeom prst="line">
            <a:avLst/>
          </a:prstGeom>
          <a:noFill/>
          <a:ln w="25400">
            <a:solidFill>
              <a:srgbClr val="0E8C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2468880"/>
            <a:ext cx="5989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0" y="2468880"/>
            <a:ext cx="1600200" cy="10789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246888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52360" y="246888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1..n aktivnosti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određenim redoslijedom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29800" y="246888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„Tura po Međimurju”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0820" y="3547872"/>
            <a:ext cx="0" cy="201168"/>
          </a:xfrm>
          <a:prstGeom prst="line">
            <a:avLst/>
          </a:prstGeom>
          <a:noFill/>
          <a:ln w="25400">
            <a:solidFill>
              <a:srgbClr val="1235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3749040"/>
            <a:ext cx="5989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60720" y="3749040"/>
            <a:ext cx="1600200" cy="10789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0" y="374904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Događaj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374904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 u konkretnom terminu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vodič, kapacitet, dodaci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29800" y="374904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subota 14. 11. u 9:00,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prijevoz autobusom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60820" y="4828032"/>
            <a:ext cx="0" cy="201168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60720" y="5029200"/>
            <a:ext cx="5989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60720" y="5029200"/>
            <a:ext cx="1600200" cy="107899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0" y="5029200"/>
            <a:ext cx="1600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Rezervacija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52360" y="5029200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rezervira se DOGAĐAJ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broj osoba + dodatne usluge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29800" y="5029200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osobe + prijevoz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zahtjev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D7F0EE"/>
          </a:solidFill>
          <a:ln w="12700">
            <a:solidFill>
              <a:srgbClr val="D7F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4645152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Zašto tri razine?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Ponovna uporaba: ista aktivnost u više izleta, isti izlet u puno termina (događaja). Organizator ne unosi iste podatke iznova.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Dionici i akteri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korisnik može imati više uloga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2697480" cy="86868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turist / klijent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pretražuje i rezervira događaje, bira dodatne usluge, prati i otkazuje svoje rezervacije, koristi kartu i GPS vodič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19272" y="12344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1234440"/>
            <a:ext cx="2697480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9272" y="1234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organizator izleta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56432" y="219456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unosi aktivnosti, izlete i događaje, kapacitete i dodatke, dodjeljuje vodiče, potvrđuje / odbija rezervacije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12344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697480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81344" y="1234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 sustava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18504" y="219456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pretražuje korisnike, dodjeljuje i oduzima uloge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43416" y="123444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43416" y="1234440"/>
            <a:ext cx="2697480" cy="8686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043416" y="12344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20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voditelj agencije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80576" y="219456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statistika: rezervacije, popunjenost, prihod, najtraženije aktivnosti i dodaci; izvoz podataka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Vanjski sustavi (sekundarni akteri)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«sustav»  </a:t>
            </a: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prijava korisnika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0248" y="47548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07408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«sustav»  </a:t>
            </a: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(SMTP)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potvrde rezervacija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83296" y="47548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0456" y="47548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«sustav»  </a:t>
            </a: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+ GPS uređaja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i lokacija korisnika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Vodič se dodjeljuje događaju; njegove zasebne mogućnosti (popis sudionika, ocjene) su u razradi.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Funkcijski zahtjevi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 – F-14 (docs/Analiza-zahtjeva.md)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97480" cy="5029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Prijava i uloge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2697480" cy="466344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2423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F-01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prijava Google računom (OAuth)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F-02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više uloga po korisniku, sučelje ovisi o ulogama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F-03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pretražuje korisnike, dodjeljuje / oduzima uloge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19272" y="1188720"/>
            <a:ext cx="2697480" cy="50292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Ponuda (Organiser)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19272" y="1691640"/>
            <a:ext cx="2697480" cy="466344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56432" y="1874520"/>
            <a:ext cx="2423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F-04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aktivnost: opis, lokacija, kategorija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F-05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 od </a:t>
            </a:r>
            <a:r>
              <a:rPr lang="hr-HR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više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aktivnosti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redoslijed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F-06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događaj iz izleta: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</a:t>
            </a:r>
            <a:r>
              <a:rPr lang="hr-HR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vodič</a:t>
            </a:r>
            <a:r>
              <a:rPr lang="hr-HR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dostupni dodatci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F-07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kapacitet događaja i dodatnih usluga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81344" y="1188720"/>
            <a:ext cx="2697480" cy="50292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81344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Rezervacije</a:t>
            </a:r>
            <a:r>
              <a:rPr lang="hr-HR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karta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97480" cy="466344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8504" y="1874520"/>
            <a:ext cx="2423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F-08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pretraga i sortiranje: naziv, datum, cijena, polazište, kategorija, vodič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F-09 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rezervacija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r-HR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događaja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dodatne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usluge</a:t>
            </a:r>
            <a:endParaRPr lang="hr-HR" sz="1500" dirty="0">
              <a:solidFill>
                <a:srgbClr val="1F2A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F-10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obavijest e-poštom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F-11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moje rezervacije: status, detalji, karta, otkazivanje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F-12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potvrđuje / odbija rezervacije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43416" y="1188720"/>
            <a:ext cx="2697480" cy="5029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43416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43416" y="1691640"/>
            <a:ext cx="2697480" cy="4663440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2423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F-13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rezervacije, popunjenost, prihod, najtraženije aktivnosti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dodaci</a:t>
            </a:r>
            <a:endParaRPr lang="hr-HR" sz="1500" dirty="0">
              <a:solidFill>
                <a:srgbClr val="1F2A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</a:t>
            </a:r>
            <a:r>
              <a:rPr lang="hr-HR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</a:t>
            </a:r>
            <a:r>
              <a:rPr lang="hr-HR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izvod statistike u standardni format (CSV)</a:t>
            </a:r>
          </a:p>
          <a:p>
            <a:pPr marL="0" indent="0">
              <a:buNone/>
            </a:pPr>
            <a:endParaRPr lang="hr-HR" sz="1500" dirty="0">
              <a:solidFill>
                <a:srgbClr val="1F2A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Nefunkcijski zahtjevi i nadopune iz zadatka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Nefunkcijski zahtjevi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Sigurnost: ovlasti po ulogama, provjera uloge na poslužitelju za svaku rutu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Responzivno sučelje: računalo, tablet, mobitel (Bootstrap)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4290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Istovremeni rad više korisnika, bez prebukiranja (transakcije u bazi)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Intuitivno sučelje: brzi rad i jednostavno korištenje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5166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Web-preglednik kao jedini klijent, HTTPS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Obrasci uporabe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OU-01 – OU-10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43000"/>
            <a:ext cx="7178040" cy="5257800"/>
          </a:xfrm>
          <a:prstGeom prst="rect">
            <a:avLst/>
          </a:prstGeom>
          <a:solidFill>
            <a:srgbClr val="FAFBFC"/>
          </a:solidFill>
          <a:ln w="190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24328" y="1197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13258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OU-01 Prijava (svi akteri)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0" y="210312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OU-02 Pretraživanje događaja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69748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26974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OU-03 Rezervacija događaja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0" y="329184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0" y="32918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OU-04 Pregled i otkazivanje rez.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0" y="388620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0" y="38862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OU-10 Prikaz lokacija na karti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0" y="457200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0" y="45720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OU-05 Unos aktivnosti i izleta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516636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0" y="516636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OU-06 Kreiranje događaja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0" y="576072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576072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OU-07 Obrada rezervacije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269748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OU-08 Dodjela korisničkih uloga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3886200"/>
            <a:ext cx="297180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388620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OU-09 Pregled statistike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143000" y="242316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80160" y="2697480"/>
            <a:ext cx="0" cy="41148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4128" y="2834640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H="1">
            <a:off x="1078992" y="3108960"/>
            <a:ext cx="201168" cy="27432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80160" y="3108960"/>
            <a:ext cx="201168" cy="27432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3410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43000" y="470916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280160" y="4983480"/>
            <a:ext cx="0" cy="41148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24128" y="5120640"/>
            <a:ext cx="51206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H="1">
            <a:off x="1078992" y="5394960"/>
            <a:ext cx="201168" cy="27432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80160" y="5394960"/>
            <a:ext cx="201168" cy="27432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5696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789920" y="233172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927080" y="2606040"/>
            <a:ext cx="0" cy="41148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671048" y="2743200"/>
            <a:ext cx="512064" cy="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H="1">
            <a:off x="10725912" y="3017520"/>
            <a:ext cx="201168" cy="27432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927080" y="3017520"/>
            <a:ext cx="201168" cy="274320"/>
          </a:xfrm>
          <a:prstGeom prst="line">
            <a:avLst/>
          </a:prstGeom>
          <a:noFill/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10412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789920" y="370332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927080" y="3977640"/>
            <a:ext cx="0" cy="41148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671048" y="4114800"/>
            <a:ext cx="512064" cy="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 flipH="1">
            <a:off x="10725912" y="4389120"/>
            <a:ext cx="201168" cy="27432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927080" y="4389120"/>
            <a:ext cx="201168" cy="274320"/>
          </a:xfrm>
          <a:prstGeom prst="line">
            <a:avLst/>
          </a:prstGeom>
          <a:noFill/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04120" y="4690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 flipV="1">
            <a:off x="1572768" y="2340864"/>
            <a:ext cx="1170432" cy="493776"/>
          </a:xfrm>
          <a:prstGeom prst="line">
            <a:avLst/>
          </a:prstGeom>
          <a:noFill/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72768" y="2834640"/>
            <a:ext cx="1170432" cy="100584"/>
          </a:xfrm>
          <a:prstGeom prst="line">
            <a:avLst/>
          </a:prstGeom>
          <a:noFill/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572768" y="2834640"/>
            <a:ext cx="1170432" cy="694944"/>
          </a:xfrm>
          <a:prstGeom prst="line">
            <a:avLst/>
          </a:prstGeom>
          <a:noFill/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572768" y="2834640"/>
            <a:ext cx="1170432" cy="1289304"/>
          </a:xfrm>
          <a:prstGeom prst="line">
            <a:avLst/>
          </a:prstGeom>
          <a:noFill/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 flipV="1">
            <a:off x="1572768" y="4809744"/>
            <a:ext cx="1170432" cy="310896"/>
          </a:xfrm>
          <a:prstGeom prst="line">
            <a:avLst/>
          </a:prstGeom>
          <a:noFill/>
          <a:ln w="1587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572768" y="5120640"/>
            <a:ext cx="1170432" cy="283464"/>
          </a:xfrm>
          <a:prstGeom prst="line">
            <a:avLst/>
          </a:prstGeom>
          <a:noFill/>
          <a:ln w="1587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572768" y="5120640"/>
            <a:ext cx="1170432" cy="877824"/>
          </a:xfrm>
          <a:prstGeom prst="line">
            <a:avLst/>
          </a:prstGeom>
          <a:noFill/>
          <a:ln w="1587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H="1">
            <a:off x="9464040" y="2743200"/>
            <a:ext cx="1143000" cy="192024"/>
          </a:xfrm>
          <a:prstGeom prst="line">
            <a:avLst/>
          </a:prstGeom>
          <a:noFill/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 flipH="1">
            <a:off x="9464040" y="4114800"/>
            <a:ext cx="1143000" cy="9144"/>
          </a:xfrm>
          <a:prstGeom prst="line">
            <a:avLst/>
          </a:prstGeom>
          <a:noFill/>
          <a:ln w="158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058400" y="1188720"/>
            <a:ext cx="1783080" cy="685800"/>
          </a:xfrm>
          <a:prstGeom prst="rect">
            <a:avLst/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058400" y="1188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«sustav»</a:t>
            </a:r>
            <a:endParaRPr lang="en-US" sz="95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 flipV="1">
            <a:off x="7589520" y="1536192"/>
            <a:ext cx="2468880" cy="27432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492240" y="4709160"/>
            <a:ext cx="2971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01968" y="47548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Primjer – OU-03 Rezervacija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odabire događaj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bira broj osoba i dodatke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sustav provjeri kapacitet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rezervacija → status „zahtjev”, e-mail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Sekvencijski dijagram – OU-03 Rezervacija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097280"/>
            <a:ext cx="274320" cy="2743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371600"/>
            <a:ext cx="0" cy="41148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508760"/>
            <a:ext cx="512064" cy="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896112" y="1783080"/>
            <a:ext cx="201168" cy="27432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1783080"/>
            <a:ext cx="201168" cy="274320"/>
          </a:xfrm>
          <a:prstGeom prst="line">
            <a:avLst/>
          </a:prstGeom>
          <a:noFill/>
          <a:ln w="2222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97280" y="2103120"/>
            <a:ext cx="0" cy="3154680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23160" y="11430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Preglednik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(EJS + Bootstrap)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29000" y="1709928"/>
            <a:ext cx="0" cy="3547872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83480" y="11430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poslužitelj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(ruta + model)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1709928"/>
            <a:ext cx="0" cy="3547872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0" y="11430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1709928"/>
            <a:ext cx="0" cy="3547872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29800" y="1143000"/>
            <a:ext cx="2011680" cy="566928"/>
          </a:xfrm>
          <a:prstGeom prst="roundRect">
            <a:avLst>
              <a:gd name="adj" fmla="val 8065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29800" y="1143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(SMTP)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835640" y="1709928"/>
            <a:ext cx="0" cy="3547872"/>
          </a:xfrm>
          <a:prstGeom prst="line">
            <a:avLst/>
          </a:prstGeom>
          <a:noFill/>
          <a:ln w="12700">
            <a:solidFill>
              <a:srgbClr val="9AA5B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057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2286000"/>
            <a:ext cx="2331720" cy="0"/>
          </a:xfrm>
          <a:prstGeom prst="line">
            <a:avLst/>
          </a:prstGeom>
          <a:noFill/>
          <a:ln w="15875">
            <a:solidFill>
              <a:srgbClr val="1F2A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43000" y="20208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odabir događaja, br. osoba, dodaci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29000" y="2651760"/>
            <a:ext cx="2560320" cy="0"/>
          </a:xfrm>
          <a:prstGeom prst="line">
            <a:avLst/>
          </a:prstGeom>
          <a:noFill/>
          <a:ln w="15875">
            <a:solidFill>
              <a:srgbClr val="1F2A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74720" y="23865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/events/:id/reserve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3017520"/>
            <a:ext cx="2514600" cy="0"/>
          </a:xfrm>
          <a:prstGeom prst="line">
            <a:avLst/>
          </a:prstGeom>
          <a:noFill/>
          <a:ln w="15875">
            <a:solidFill>
              <a:srgbClr val="1F2A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275234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… FOR UPDATE (kapacitet)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flipH="1">
            <a:off x="5989320" y="3383280"/>
            <a:ext cx="251460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311810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slobodno = kapacitet − rezervirano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0" y="3520440"/>
            <a:ext cx="9098280" cy="1691640"/>
          </a:xfrm>
          <a:prstGeom prst="rect">
            <a:avLst/>
          </a:prstGeom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0" y="3520440"/>
            <a:ext cx="502920" cy="23774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0" y="3520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10128" y="3520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 mjesta]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023360"/>
            <a:ext cx="2514600" cy="0"/>
          </a:xfrm>
          <a:prstGeom prst="line">
            <a:avLst/>
          </a:prstGeom>
          <a:noFill/>
          <a:ln w="15875">
            <a:solidFill>
              <a:srgbClr val="1F2A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35040" y="3758184"/>
            <a:ext cx="2423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rezervacija (zahtjev); COMMIT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89320" y="4389120"/>
            <a:ext cx="4846320" cy="0"/>
          </a:xfrm>
          <a:prstGeom prst="line">
            <a:avLst/>
          </a:prstGeom>
          <a:noFill/>
          <a:ln w="15875">
            <a:solidFill>
              <a:srgbClr val="1F2A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0" y="412394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potvrda zaprimanja rezervacije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H="1">
            <a:off x="3429000" y="4709160"/>
            <a:ext cx="256032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74720" y="44439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/reservations/:id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0" y="4818888"/>
            <a:ext cx="9098280" cy="0"/>
          </a:xfrm>
          <a:prstGeom prst="line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816352" y="4837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[popunjeno]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 flipH="1">
            <a:off x="3429000" y="5120640"/>
            <a:ext cx="256032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0" y="485546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→ „Događaj je popunjen”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54864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Statusi rezervacije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651760" y="5486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2225">
            <a:solidFill>
              <a:srgbClr val="5B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651760" y="5486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Zahtjev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20640" y="5486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22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20640" y="5486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Potvrđena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589520" y="5486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2225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589520" y="5486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Realizirana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120640" y="60533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120640" y="6053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Odbijena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589520" y="6053328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222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589520" y="6053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Otkazana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206240" y="5660136"/>
            <a:ext cx="91440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675120" y="5660136"/>
            <a:ext cx="914400" cy="0"/>
          </a:xfrm>
          <a:prstGeom prst="line">
            <a:avLst/>
          </a:prstGeom>
          <a:noFill/>
          <a:ln w="15875">
            <a:solidFill>
              <a:srgbClr val="5B65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206240" y="5833872"/>
            <a:ext cx="914400" cy="393192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675120" y="5833872"/>
            <a:ext cx="914400" cy="393192"/>
          </a:xfrm>
          <a:prstGeom prst="line">
            <a:avLst/>
          </a:prstGeom>
          <a:noFill/>
          <a:ln w="15875">
            <a:solidFill>
              <a:srgbClr val="F28C2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418320" y="5486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potvrđuje / odbija: Organiser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otkazuje: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realizirana: nakon izleta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Arhitektura sustava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troslojna, MVC, server-side rendering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108960" cy="3611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254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3108960" cy="54864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Klijent (preglednik)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1874520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18745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iz EJS predložaka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– responzivno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587752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5877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 OpenStreetMap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aktivnosti i znamenitosti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3300984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3009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 API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lokacija za digitalni vodič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014216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40142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 / fetch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rezervacija, pretraga, filtri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51960" y="1188720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254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1188720"/>
            <a:ext cx="3840480" cy="54864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1188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Poslužitelj – Node.js + Express 5 (TS)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89120" y="187452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8745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= kontroleri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/events, /trips, /activites, /reservations, /admin, /dashboard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2587752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80560" y="258775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sesija, Google OAuth, provjera uloge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89120" y="3300984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hr-HR" sz="1250" b="1" dirty="0">
              <a:solidFill>
                <a:srgbClr val="1F2A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hr-HR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komunikacija s bazom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389120" y="4014216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40142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(EJS)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generiranje HTML-a na poslužitelju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78240" y="1188720"/>
            <a:ext cx="2971800" cy="36118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78240" y="1188720"/>
            <a:ext cx="2971800" cy="548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778240" y="1188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– PostgreSQL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15400" y="1874520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006840" y="18745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Relacijski model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ER: 12 entiteta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15400" y="2587752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006840" y="258775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/ view-ovi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filtriranje događaja, statistika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15400" y="3300984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006840" y="3300984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Transakcije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nema prebukiranja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915400" y="4014216"/>
            <a:ext cx="2697480" cy="621792"/>
          </a:xfrm>
          <a:prstGeom prst="roundRect">
            <a:avLst>
              <a:gd name="adj" fmla="val 11765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006840" y="401421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Pool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veza iz modela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3566160" y="2971800"/>
            <a:ext cx="68580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47872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92440" y="2971800"/>
            <a:ext cx="68580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74152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51960" y="4983480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51960" y="49834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59552" y="4983480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559552" y="49834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(SMTP)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67144" y="4983480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EEF1F4"/>
          </a:solidFill>
          <a:ln w="12700">
            <a:solidFill>
              <a:srgbClr val="AAB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67144" y="49834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72200" y="4800600"/>
            <a:ext cx="0" cy="182880"/>
          </a:xfrm>
          <a:prstGeom prst="line">
            <a:avLst/>
          </a:prstGeom>
          <a:noFill/>
          <a:ln w="15875">
            <a:solidFill>
              <a:srgbClr val="5B65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57200" y="5715000"/>
            <a:ext cx="11292840" cy="658368"/>
          </a:xfrm>
          <a:prstGeom prst="roundRect">
            <a:avLst>
              <a:gd name="adj" fmla="val 11111"/>
            </a:avLst>
          </a:prstGeom>
          <a:solidFill>
            <a:srgbClr val="D7F0EE"/>
          </a:solidFill>
          <a:ln w="12700">
            <a:solidFill>
              <a:srgbClr val="D7F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" y="57150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Isporuka:  </a:t>
            </a:r>
            <a:r>
              <a:rPr lang="en-US" sz="125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(grana production) → automatski deploy → Docker Compose (app + PostgreSQL) na vlastitom poslužitelju → nginx + Cloudflare, HTTPS. Prije svakog deploya backup baze, kod greške automatski rollback.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Oblikovanje baze podataka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0" y="10972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 (docs/baza)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037421" y="1143000"/>
            <a:ext cx="82296" cy="78638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20301" y="1143000"/>
            <a:ext cx="45114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⟷ Roles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M:N – korisnik ima više uloga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37421" y="2075688"/>
            <a:ext cx="82296" cy="786384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20301" y="2075688"/>
            <a:ext cx="45114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 ⟷ Trips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M:N preko TripActivity (redoslijed); kategorija, lokacija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037421" y="3008376"/>
            <a:ext cx="82296" cy="78638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20301" y="3008376"/>
            <a:ext cx="45114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→ Events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1:N – događaj = izlet u terminu; stanje, vodič (HasGuide)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37421" y="3941064"/>
            <a:ext cx="82296" cy="78638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20301" y="3941064"/>
            <a:ext cx="45114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Addons → EventAddons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dodatak dostupan po događaju s vlastitim kapacitetom i cijenom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37421" y="4873752"/>
            <a:ext cx="82296" cy="7863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20301" y="4873752"/>
            <a:ext cx="451145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korisnik + događaj + stanje + odabrani EventAddons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37421" y="5806440"/>
            <a:ext cx="46943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Šifrarnici: ActivityCategory, TripTags, EventStates, ReservationStates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D2F967F-C73E-0FA8-2C52-AC99577C9C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22" r="21250"/>
          <a:stretch>
            <a:fillRect/>
          </a:stretch>
        </p:blipFill>
        <p:spPr>
          <a:xfrm>
            <a:off x="-8712" y="969264"/>
            <a:ext cx="6965004" cy="51475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Trenutno stanje i sljedeći koraci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izLETI · G11 · Programsko inženjerstvo 2026/27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789920" y="65105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Napravljeno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Specifikacija: opis, F-01 – F-14, NF zahtjevi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4048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Obrasci uporabe OU-01 – OU-10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0266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model baze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64845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648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Kostur aplikacije: Express rute + EJS pogledi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70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Automatski deploy (Docker, HTTPS)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Slijedi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Implementacija baze, procedure i modeli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048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24048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prijava i uloge (middleware)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30266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30266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Rezervacije s provjerom kapaciteta + e-mail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364845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36484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Statistika i izvoz u CSV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4270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4270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i GPS digitalni vodič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9360" y="4892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66560" y="4892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UML: sekvencijski i dijagram razreda u dokumentaciji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562356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Hvala! Pitanja?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1781</Words>
  <Application>Microsoft Office PowerPoint</Application>
  <PresentationFormat>Widescreen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izLETI – PROGI 2026/27</dc:title>
  <dc:subject>PptxGenJS Presentation</dc:subject>
  <dc:creator>PptxGenJS</dc:creator>
  <cp:lastModifiedBy>Jakov Biškup</cp:lastModifiedBy>
  <cp:revision>5</cp:revision>
  <dcterms:created xsi:type="dcterms:W3CDTF">2026-10-29T07:10:55Z</dcterms:created>
  <dcterms:modified xsi:type="dcterms:W3CDTF">2026-10-29T07:58:55Z</dcterms:modified>
</cp:coreProperties>
</file>